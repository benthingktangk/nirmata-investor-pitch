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newsroom/press-releases/2024-10-ai-spend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tatista.com/outlook/hmo/digital-health/digital-treatment-care/ai-in-healthcare/worldwi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newsroom/press-releases/2024-10-ai-spending" TargetMode="External"/><Relationship Id="rId2" Type="http://schemas.openxmlformats.org/officeDocument/2006/relationships/hyperlink" Target="https://www.statista.com/outlook/tmo/artificial-intelligence/worldwid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AntimatterAI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Full-Stack AI Platform Where You Own Everything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|  $60M Pre-Money Valuation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are trapped in a broken AI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31E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AI platform creates dependency. Switch costs are astronomical. Your models, your data, your workflows — none of it is portable.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31E35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Ownership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194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trains vendor models. Companies invest millions in AI but own nothing — no models, no training data, no competitive advantage.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31E3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enterprise uses 5-8 disconnected AI tools. No unified governance, no single deployment framework, no coherent strategy.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&lt;1% </a:t>
            </a:r>
            <a:pPr indent="0" marL="0"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adoption in 2024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$665B </a:t>
            </a:r>
            <a:pPr indent="0" marL="0"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spend, poor ROI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— Model-Agnostic AI Runtime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31E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Supported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097280" cy="1828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model, any provider. No lock-in, no restrictions. Switch freely between OpenAI, Anthropic, open-source, or your own models.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31E3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91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Ownership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651760"/>
            <a:ext cx="1097280" cy="1828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Your 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 guarantee. Your data never trains vendor models. All intellectual property remains yours — models, workflows, and outputs.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31E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91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Products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651760"/>
            <a:ext cx="1097280" cy="18288"/>
          </a:xfrm>
          <a:prstGeom prst="rect">
            <a:avLst/>
          </a:prstGeom>
          <a:solidFill>
            <a:srgbClr val="20808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108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framework, complete coverage. From governance to agents to healthcare to UI — everything deploys through ATOM.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PRODUCTS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framework. Complete enterprise AI coverage.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AI runtime supporting 200+ LLMs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ClinixAI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platform with full X12/EDI coverage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Vidzee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video intelligence and 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and molecular simulation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32004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LLM output into interactive user interfaces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2004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Governance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RBAC, audit trails, and compliance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320040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31E35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Agents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DROP: THE NUMBERS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without a single dollar of external capital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0F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18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180 Days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ClinixAI alone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0F1A2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184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120640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Time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0F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18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00584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069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comparison matrix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0F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18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$34-64M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12064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Duplicate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4069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estimate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CLINIXAI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That Delivers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F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819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F1A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Time Reduction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F1A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85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EDI Coverage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3840480" cy="3154680"/>
          </a:xfrm>
          <a:prstGeom prst="roundRect">
            <a:avLst>
              <a:gd name="adj" fmla="val 3478"/>
            </a:avLst>
          </a:prstGeom>
          <a:solidFill>
            <a:srgbClr val="131E3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Complete Healthcare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X12/EDI transaction coverage — the only platform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HIPAA compliant end-to-end architecture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Clinical documentation automation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3346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Revenue cycle management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Patient communication workflows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$187B healthcare AI market by 2030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Statista Healthcare AI Market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 No One Else Has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131E3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→ Interactive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 is the only technology that converts raw LLM responses into fully interactive, styled user interface components in real-time.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templates. No manual coding. The AI generates the experience.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Thesys.dev C1 API Partnership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21945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633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834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F1A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273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47472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A3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9136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41148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A3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CLIENTS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validation across industries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Lowe's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supply chain AI across 1,700+ stores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 for 350,000+ employees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and engineering AI solutions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E2open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 supply chain logistics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49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process intelligence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7492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standards, 2.5M+ monthly visitors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154680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F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Injazat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49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government digital transformation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$2.52T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Spend by 2026 (Gartner)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0F1A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adoption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6060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0F1A2E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7180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by 2030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segment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6060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0F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7492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by 2030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ClinixAI addressable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260604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0F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$665B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17804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Spend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3611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AI investment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</a:t>
            </a:r>
            <a:pPr indent="0" marL="0">
              <a:buNone/>
            </a:pPr>
            <a:r>
              <a:rPr lang="en-US" sz="8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5-LAYER MOAT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compounds the competitive advantage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162040"/>
          </a:solidFill>
          <a:ln w="6350">
            <a:solidFill>
              <a:srgbClr val="2080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173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Cost-to-Duplicate Barrier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$34M–$64M to replicate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2130552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131E35"/>
          </a:solidFill>
          <a:ln w="6350">
            <a:solidFill>
              <a:srgbClr val="2080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1305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7 products, one framework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284378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F1A2E"/>
          </a:solidFill>
          <a:ln w="6350">
            <a:solidFill>
              <a:srgbClr val="2080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8437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 Exclusivity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Only LLM-to-UI conversion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3557016"/>
            <a:ext cx="4389120" cy="566928"/>
          </a:xfrm>
          <a:prstGeom prst="roundRect">
            <a:avLst>
              <a:gd name="adj" fmla="val 12903"/>
            </a:avLst>
          </a:prstGeom>
          <a:solidFill>
            <a:srgbClr val="1A2D4D"/>
          </a:solidFill>
          <a:ln w="6350">
            <a:solidFill>
              <a:srgbClr val="2080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5570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IP Ownership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Zero training guarantee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26080" y="427024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1F3555"/>
          </a:solidFill>
          <a:ln w="6350">
            <a:solidFill>
              <a:srgbClr val="2080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42702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Runtime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200+ LLMs, no lock-in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1463040"/>
          </a:xfrm>
          <a:prstGeom prst="roundRect">
            <a:avLst>
              <a:gd name="adj" fmla="val 7500"/>
            </a:avLst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Vendor Comparison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platform scores above 18/25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1005840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10058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100584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1371600"/>
            <a:ext cx="4389120" cy="374904"/>
          </a:xfrm>
          <a:prstGeom prst="roundRect">
            <a:avLst>
              <a:gd name="adj" fmla="val 9756"/>
            </a:avLst>
          </a:prstGeom>
          <a:solidFill>
            <a:srgbClr val="0F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38988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138988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138988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755648"/>
            <a:ext cx="4389120" cy="374904"/>
          </a:xfrm>
          <a:prstGeom prst="roundRect">
            <a:avLst>
              <a:gd name="adj" fmla="val 9756"/>
            </a:avLst>
          </a:prstGeom>
          <a:solidFill>
            <a:srgbClr val="0F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77393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Ownership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77393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773936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2139696"/>
            <a:ext cx="4389120" cy="374904"/>
          </a:xfrm>
          <a:prstGeom prst="roundRect">
            <a:avLst>
              <a:gd name="adj" fmla="val 9756"/>
            </a:avLst>
          </a:prstGeom>
          <a:solidFill>
            <a:srgbClr val="0F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2157984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1579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2157984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2523744"/>
            <a:ext cx="4389120" cy="374904"/>
          </a:xfrm>
          <a:prstGeom prst="roundRect">
            <a:avLst>
              <a:gd name="adj" fmla="val 9756"/>
            </a:avLst>
          </a:prstGeom>
          <a:solidFill>
            <a:srgbClr val="0F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254203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(7 prod.)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54203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2542032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2907792"/>
            <a:ext cx="4389120" cy="374904"/>
          </a:xfrm>
          <a:prstGeom prst="roundRect">
            <a:avLst>
              <a:gd name="adj" fmla="val 9756"/>
            </a:avLst>
          </a:prstGeom>
          <a:solidFill>
            <a:srgbClr val="0F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292608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(X12)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92608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2926080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3291840"/>
            <a:ext cx="4389120" cy="374904"/>
          </a:xfrm>
          <a:prstGeom prst="roundRect">
            <a:avLst>
              <a:gd name="adj" fmla="val 9756"/>
            </a:avLst>
          </a:prstGeom>
          <a:solidFill>
            <a:srgbClr val="0F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4251960" y="3310128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$34-64M Duplication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3101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3310128"/>
            <a:ext cx="1005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5 moat layers.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VALUATIONS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$60M is the entry point, not the ceiling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80360" y="1271016"/>
            <a:ext cx="502920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1618488"/>
            <a:ext cx="466344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581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$10.2B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929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1965960"/>
            <a:ext cx="457200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929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76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2313432"/>
            <a:ext cx="331470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15" name="Text 13"/>
          <p:cNvSpPr/>
          <p:nvPr/>
        </p:nvSpPr>
        <p:spPr>
          <a:xfrm>
            <a:off x="6332220" y="2276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660904"/>
            <a:ext cx="251460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2624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80360" y="3008376"/>
            <a:ext cx="242316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80360" y="335584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666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Distyl AI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0360" y="37033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666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80360" y="4050792"/>
            <a:ext cx="436626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30" name="Text 28"/>
          <p:cNvSpPr/>
          <p:nvPr/>
        </p:nvSpPr>
        <p:spPr>
          <a:xfrm>
            <a:off x="3454146" y="4014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$955M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80360" y="4398264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20808D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4361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800600"/>
            <a:ext cx="7680960" cy="182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AntimatterAI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928616"/>
            <a:ext cx="109728" cy="201168"/>
          </a:xfrm>
          <a:prstGeom prst="roundRect">
            <a:avLst>
              <a:gd name="adj" fmla="val 33333"/>
            </a:avLst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310896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companies valued at $700M–$11B. AntimatterAI has 7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 HUB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0" y="2057400"/>
            <a:ext cx="2194560" cy="1097280"/>
          </a:xfrm>
          <a:prstGeom prst="ellipse">
            <a:avLst/>
          </a:prstGeom>
          <a:solidFill>
            <a:srgbClr val="0A3D3D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F1A2E"/>
          </a:solidFill>
          <a:ln w="6350">
            <a:solidFill>
              <a:srgbClr val="1A2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Akamai / Linode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Edge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F1A2E"/>
          </a:solidFill>
          <a:ln w="6350">
            <a:solidFill>
              <a:srgbClr val="1A2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Stedi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EDI &amp; X12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F1A2E"/>
          </a:solidFill>
          <a:ln w="6350">
            <a:solidFill>
              <a:srgbClr val="1A2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Emotion 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33832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F1A2E"/>
          </a:solidFill>
          <a:ln w="6350">
            <a:solidFill>
              <a:srgbClr val="1A2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456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Teams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&amp; Motorsport 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41148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F1A2E"/>
          </a:solidFill>
          <a:ln w="6350">
            <a:solidFill>
              <a:srgbClr val="1A2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Thesys.dev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/ C1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1508760"/>
            <a:ext cx="1097280" cy="868680"/>
          </a:xfrm>
          <a:prstGeom prst="line">
            <a:avLst/>
          </a:prstGeom>
          <a:noFill/>
          <a:ln w="12700">
            <a:solidFill>
              <a:srgbClr val="20808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5486400" y="1508760"/>
            <a:ext cx="1097280" cy="868680"/>
          </a:xfrm>
          <a:prstGeom prst="line">
            <a:avLst/>
          </a:prstGeom>
          <a:noFill/>
          <a:ln w="12700">
            <a:solidFill>
              <a:srgbClr val="20808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560320" y="2880360"/>
            <a:ext cx="1097280" cy="868680"/>
          </a:xfrm>
          <a:prstGeom prst="line">
            <a:avLst/>
          </a:prstGeom>
          <a:noFill/>
          <a:ln w="12700">
            <a:solidFill>
              <a:srgbClr val="20808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5486400" y="2880360"/>
            <a:ext cx="1097280" cy="868680"/>
          </a:xfrm>
          <a:prstGeom prst="line">
            <a:avLst/>
          </a:prstGeom>
          <a:noFill/>
          <a:ln w="12700">
            <a:solidFill>
              <a:srgbClr val="2080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154680"/>
            <a:ext cx="9144" cy="960120"/>
          </a:xfrm>
          <a:prstGeom prst="line">
            <a:avLst/>
          </a:prstGeom>
          <a:noFill/>
          <a:ln w="12700">
            <a:solidFill>
              <a:srgbClr val="20808D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SUBSCRIPTION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compounding revenue with 130-145% target NRR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0F1A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$2,500/mo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 access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0F1A2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$8,500/mo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Multi-model, governance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0F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$25,000/mo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suite, SLA, support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ClinixAI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$4,500/mo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practice, core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5204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F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$18,000/mo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56616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Multi-site, full X12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5204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04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$45-85K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deployment engagement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280160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162040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NRR: 130–145%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$5M+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 in 18 Months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$100M ARR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74650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0808D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4942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0808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752344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20808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Path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3054096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20808D"/>
          </a:solidFill>
          <a:ln/>
        </p:spPr>
      </p:sp>
      <p:sp>
        <p:nvSpPr>
          <p:cNvPr id="18" name="Text 16"/>
          <p:cNvSpPr/>
          <p:nvPr/>
        </p:nvSpPr>
        <p:spPr>
          <a:xfrm>
            <a:off x="1965960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3649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3401568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20808D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364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7124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3749040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20808D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712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0599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4096512"/>
            <a:ext cx="2926080" cy="219456"/>
          </a:xfrm>
          <a:prstGeom prst="roundRect">
            <a:avLst>
              <a:gd name="adj" fmla="val 16667"/>
            </a:avLst>
          </a:prstGeom>
          <a:solidFill>
            <a:srgbClr val="20808D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407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4443984"/>
            <a:ext cx="4114800" cy="219456"/>
          </a:xfrm>
          <a:prstGeom prst="roundRect">
            <a:avLst>
              <a:gd name="adj" fmla="val 16667"/>
            </a:avLst>
          </a:prstGeom>
          <a:solidFill>
            <a:srgbClr val="20808D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4407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7548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71600" y="4791456"/>
            <a:ext cx="5303520" cy="219456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4754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$5M+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years combined enterprise AI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31E35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600200"/>
            <a:ext cx="1005840" cy="1005840"/>
          </a:xfrm>
          <a:prstGeom prst="ellipse">
            <a:avLst/>
          </a:prstGeom>
          <a:solidFill>
            <a:srgbClr val="0A3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O'Leary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Strategic Architect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 across enterprise AI, healthcare, and strategic architecture. Visionary behind the multi-product strategy and go-to-market approach.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31E3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600200"/>
            <a:ext cx="1005840" cy="1005840"/>
          </a:xfrm>
          <a:prstGeom prst="ellipse">
            <a:avLst/>
          </a:prstGeom>
          <a:solidFill>
            <a:srgbClr val="0A3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033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Wallace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0332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technology leader and architect of the ATOM framework. 20+ years of enterprise engineering experience. CTO of ClinixAI.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31E35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0A3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Bravo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Design &amp; Technology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Design-driven technologist and creator of the GenUI concept. Leads ATOM's visual intelligence layer and user experience.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$60M IS CONSERVATIVE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$34–64M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Duplicate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engineering cost analysis to rebuild what exists today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F1A2E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Multiple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production products × average seed-stage value exceeds $60M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F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$700M–$11B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Comps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single-product AI companies already valued at this 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0F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154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1206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Addressable Market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 against $2.52T total addressable market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$10–20M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$60M Pre-Money Valuation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$5M+ ARR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2926080" cy="18288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423160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20808D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2359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Hiring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971800"/>
            <a:ext cx="1463040" cy="182880"/>
          </a:xfrm>
          <a:prstGeom prst="roundRect">
            <a:avLst>
              <a:gd name="adj" fmla="val 20000"/>
            </a:avLst>
          </a:prstGeom>
          <a:solidFill>
            <a:srgbClr val="1F3555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907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52044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1A2D4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456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31E3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$5M+ ARR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3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Enterprise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7180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31E35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Ready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7492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metrics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31E35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Verticals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4251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four market forces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0F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→ 40%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Inflection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adoption is accelerating from under 1% in 2024 to a projected 40% by mid-2026. The window to capture market share is now.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0F1A2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$665B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Spend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AI infrastructure investment is creating massive demand for deployment frameworks. Enterprises need tools to leverage this investment.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0F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Clarity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frameworks are emerging globally. Companies with built-in compliance (ATOM Governance) have a structural advantage.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0F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Built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AntimatterAI already has production products, Fortune 500 clients, and a $4M+ pipeline. Capital accelerates — it doesn't create.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B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Enterprise AI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Here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828800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O'Leary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Strategic Architect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ben.oleary@thingktangk.com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AntimatterAI  —  Series A  —  $60M Pre-Money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2026-03-19T09:04:49Z</dcterms:created>
  <dcterms:modified xsi:type="dcterms:W3CDTF">2026-03-19T09:04:49Z</dcterms:modified>
</cp:coreProperties>
</file>